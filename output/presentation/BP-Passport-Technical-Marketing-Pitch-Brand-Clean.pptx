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4bab71628248bc" /><Relationship Type="http://schemas.openxmlformats.org/officeDocument/2006/relationships/extended-properties" Target="/docProps/app.xml" Id="Re92f419fd2f74c45" /><Relationship Type="http://schemas.openxmlformats.org/officeDocument/2006/relationships/officeDocument" Target="/ppt/presentation.xml" Id="Rbaec9ec178f047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0ea808c4024493"/>
  </p:sldMasterIdLst>
  <p:notesMasterIdLst>
    <p:notesMasterId xmlns:r="http://schemas.openxmlformats.org/officeDocument/2006/relationships" r:id="Rb23d91bd56ff49fa"/>
  </p:notesMasterIdLst>
  <p:sldIdLst>
    <p:sldId xmlns:r="http://schemas.openxmlformats.org/officeDocument/2006/relationships" id="256" r:id="R965fe2b3a8d44697"/>
    <p:sldId xmlns:r="http://schemas.openxmlformats.org/officeDocument/2006/relationships" id="257" r:id="R403fb4aaa3134cce"/>
    <p:sldId xmlns:r="http://schemas.openxmlformats.org/officeDocument/2006/relationships" id="258" r:id="Ra06179826ae94ffd"/>
    <p:sldId xmlns:r="http://schemas.openxmlformats.org/officeDocument/2006/relationships" id="259" r:id="Rb30616cf56634884"/>
    <p:sldId xmlns:r="http://schemas.openxmlformats.org/officeDocument/2006/relationships" id="260" r:id="R20db0a2e14d84351"/>
    <p:sldId xmlns:r="http://schemas.openxmlformats.org/officeDocument/2006/relationships" id="261" r:id="Rcbbbe91f02354951"/>
    <p:sldId xmlns:r="http://schemas.openxmlformats.org/officeDocument/2006/relationships" id="262" r:id="R6f7e2c88e7bf47bd"/>
    <p:sldId xmlns:r="http://schemas.openxmlformats.org/officeDocument/2006/relationships" id="263" r:id="R950753ee832749d7"/>
    <p:sldId xmlns:r="http://schemas.openxmlformats.org/officeDocument/2006/relationships" id="264" r:id="Rbb8236c509214f58"/>
    <p:sldId xmlns:r="http://schemas.openxmlformats.org/officeDocument/2006/relationships" id="265" r:id="R45414c2ab5954cca"/>
    <p:sldId xmlns:r="http://schemas.openxmlformats.org/officeDocument/2006/relationships" id="266" r:id="R9ac4ca9fa2144b29"/>
    <p:sldId xmlns:r="http://schemas.openxmlformats.org/officeDocument/2006/relationships" id="267" r:id="R60d8ec41e33045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d1299e6b064d8e" /><Relationship Type="http://schemas.openxmlformats.org/officeDocument/2006/relationships/slideMaster" Target="/ppt/slideMasters/slideMaster1.xml" Id="R2f0ea808c4024493" /><Relationship Type="http://schemas.openxmlformats.org/officeDocument/2006/relationships/notesMaster" Target="/ppt/notesMasters/notesMaster1.xml" Id="Rb23d91bd56ff49fa" /><Relationship Type="http://schemas.openxmlformats.org/officeDocument/2006/relationships/presProps" Target="/ppt/presProps.xml" Id="R412f576139b94fd3" /><Relationship Type="http://schemas.openxmlformats.org/officeDocument/2006/relationships/tableStyles" Target="/ppt/tableStyles.xml" Id="R451c6303eff74c51" /><Relationship Type="http://schemas.openxmlformats.org/officeDocument/2006/relationships/slide" Target="/ppt/slides/slide1.xml" Id="R965fe2b3a8d44697" /><Relationship Type="http://schemas.openxmlformats.org/officeDocument/2006/relationships/slide" Target="/ppt/slides/slide2.xml" Id="R403fb4aaa3134cce" /><Relationship Type="http://schemas.openxmlformats.org/officeDocument/2006/relationships/slide" Target="/ppt/slides/slide3.xml" Id="Ra06179826ae94ffd" /><Relationship Type="http://schemas.openxmlformats.org/officeDocument/2006/relationships/slide" Target="/ppt/slides/slide4.xml" Id="Rb30616cf56634884" /><Relationship Type="http://schemas.openxmlformats.org/officeDocument/2006/relationships/slide" Target="/ppt/slides/slide5.xml" Id="R20db0a2e14d84351" /><Relationship Type="http://schemas.openxmlformats.org/officeDocument/2006/relationships/slide" Target="/ppt/slides/slide6.xml" Id="Rcbbbe91f02354951" /><Relationship Type="http://schemas.openxmlformats.org/officeDocument/2006/relationships/slide" Target="/ppt/slides/slide7.xml" Id="R6f7e2c88e7bf47bd" /><Relationship Type="http://schemas.openxmlformats.org/officeDocument/2006/relationships/slide" Target="/ppt/slides/slide8.xml" Id="R950753ee832749d7" /><Relationship Type="http://schemas.openxmlformats.org/officeDocument/2006/relationships/slide" Target="/ppt/slides/slide9.xml" Id="Rbb8236c509214f58" /><Relationship Type="http://schemas.openxmlformats.org/officeDocument/2006/relationships/slide" Target="/ppt/slides/slide10.xml" Id="R45414c2ab5954cca" /><Relationship Type="http://schemas.openxmlformats.org/officeDocument/2006/relationships/slide" Target="/ppt/slides/slide11.xml" Id="R9ac4ca9fa2144b29" /><Relationship Type="http://schemas.openxmlformats.org/officeDocument/2006/relationships/slide" Target="/ppt/slides/slide12.xml" Id="R60d8ec41e33045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83750953df40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78686597ec4408" /><Relationship Type="http://schemas.openxmlformats.org/officeDocument/2006/relationships/notesMaster" Target="/ppt/notesMasters/notesMaster1.xml" Id="Rbda82ac91e7a45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40d0486a844f39" /><Relationship Type="http://schemas.openxmlformats.org/officeDocument/2006/relationships/notesMaster" Target="/ppt/notesMasters/notesMaster1.xml" Id="R20149cce3ae745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d62da6bf5e4482" /><Relationship Type="http://schemas.openxmlformats.org/officeDocument/2006/relationships/notesMaster" Target="/ppt/notesMasters/notesMaster1.xml" Id="R1096b923d91b4b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0c487ea3f44750" /><Relationship Type="http://schemas.openxmlformats.org/officeDocument/2006/relationships/notesMaster" Target="/ppt/notesMasters/notesMaster1.xml" Id="R1b89a6c54c8c41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aff86206af477c" /><Relationship Type="http://schemas.openxmlformats.org/officeDocument/2006/relationships/notesMaster" Target="/ppt/notesMasters/notesMaster1.xml" Id="R46d9e50bc58242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4e6ddd083f48c8" /><Relationship Type="http://schemas.openxmlformats.org/officeDocument/2006/relationships/notesMaster" Target="/ppt/notesMasters/notesMaster1.xml" Id="R4c94196f3e104b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8187d27eef47b0" /><Relationship Type="http://schemas.openxmlformats.org/officeDocument/2006/relationships/notesMaster" Target="/ppt/notesMasters/notesMaster1.xml" Id="R7f4732e8ef1d4b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afe11cef874a63" /><Relationship Type="http://schemas.openxmlformats.org/officeDocument/2006/relationships/notesMaster" Target="/ppt/notesMasters/notesMaster1.xml" Id="Re905f0195ca14a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f6d4248e084854" /><Relationship Type="http://schemas.openxmlformats.org/officeDocument/2006/relationships/notesMaster" Target="/ppt/notesMasters/notesMaster1.xml" Id="R60ba6b48fd7341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3cd29fadfe46a3" /><Relationship Type="http://schemas.openxmlformats.org/officeDocument/2006/relationships/notesMaster" Target="/ppt/notesMasters/notesMaster1.xml" Id="Ra09cf298b28748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00748ef0534918" /><Relationship Type="http://schemas.openxmlformats.org/officeDocument/2006/relationships/notesMaster" Target="/ppt/notesMasters/notesMaster1.xml" Id="Rffd389b820164f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dae5d33e5244f7" /><Relationship Type="http://schemas.openxmlformats.org/officeDocument/2006/relationships/notesMaster" Target="/ppt/notesMasters/notesMaster1.xml" Id="R8d4177f29bfc46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BP_Passport_Investor_Deck.pptx and project README. Epidemiological figures come from the supplied project research and should be revalidated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current repository package.json, README.md, app/api route inventory, db/migrations and successful project validation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BP_Passport_Investor_Deck.pptx. The funding values and revenue model are planning assumptions, not audited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BP_Passport_Investor_Deck.pptx and BP_Passport_NIC_Pitch_Deck_v2.pptx. KPI gates are pilot targets, not achieved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9c03bb0ad64ac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0fcc9b467949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d0a3d9aca541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b673ef604444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5590b60c4f4a9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0ff68c5db42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E61FC5-BA02-46BC-8FDB-C706A7246C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024BEF-1A87-4745-9016-CBDF682175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C2DB62F-70B0-4538-8A32-D482A71143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71C79A-235D-4850-80BF-DD7182A6EF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24B3AD3-5124-47FD-8FA2-957BEE40E0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F16977-D1F7-4586-8A62-CE0727F3C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BD8D3F-B4FE-4954-BE4D-90C0442266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7BCE710-023C-4A59-9E9C-0D09BC7DE6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FC2649-508A-4799-BA88-5211CA08ED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F35CEA-CF89-4486-A4D2-0B57D39F9C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2008782c044ac6" /><Relationship Type="http://schemas.openxmlformats.org/officeDocument/2006/relationships/slideLayout" Target="/ppt/slideLayouts/slideLayout1.xml" Id="Rd2b9440c5abc43ab" /><Relationship Type="http://schemas.openxmlformats.org/officeDocument/2006/relationships/slideLayout" Target="/ppt/slideLayouts/slideLayout2.xml" Id="Re555fb8ddaba4a49" /><Relationship Type="http://schemas.openxmlformats.org/officeDocument/2006/relationships/slideLayout" Target="/ppt/slideLayouts/slideLayout3.xml" Id="R3c616de507744478" /><Relationship Type="http://schemas.openxmlformats.org/officeDocument/2006/relationships/slideLayout" Target="/ppt/slideLayouts/slideLayout4.xml" Id="R25933ef2e91c4d7e" /><Relationship Type="http://schemas.openxmlformats.org/officeDocument/2006/relationships/slideLayout" Target="/ppt/slideLayouts/slideLayout5.xml" Id="R4af0cb8516d24a3b" /><Relationship Type="http://schemas.openxmlformats.org/officeDocument/2006/relationships/slideLayout" Target="/ppt/slideLayouts/slideLayout6.xml" Id="R9586593882a94f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b9440c5abc43ab"/>
    <p:sldLayoutId xmlns:r="http://schemas.openxmlformats.org/officeDocument/2006/relationships" id="2147483650" r:id="Re555fb8ddaba4a49"/>
    <p:sldLayoutId xmlns:r="http://schemas.openxmlformats.org/officeDocument/2006/relationships" id="2147483651" r:id="R3c616de507744478"/>
    <p:sldLayoutId xmlns:r="http://schemas.openxmlformats.org/officeDocument/2006/relationships" id="2147483652" r:id="R25933ef2e91c4d7e"/>
    <p:sldLayoutId xmlns:r="http://schemas.openxmlformats.org/officeDocument/2006/relationships" id="2147483653" r:id="R4af0cb8516d24a3b"/>
    <p:sldLayoutId xmlns:r="http://schemas.openxmlformats.org/officeDocument/2006/relationships" id="2147483654" r:id="R9586593882a94f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e32ae9f5314ea0" /><Relationship Type="http://schemas.openxmlformats.org/officeDocument/2006/relationships/image" Target="/ppt/media/image.png" Id="Re875f85afa654218" /><Relationship Type="http://schemas.openxmlformats.org/officeDocument/2006/relationships/image" Target="/ppt/media/image.bin" Id="R85365d1125d8461e" /><Relationship Type="http://schemas.openxmlformats.org/officeDocument/2006/relationships/notesSlide" Target="/ppt/notesSlides/notesSlide1.xml" Id="R19001c9c756041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3f0e2033264ec8" /><Relationship Type="http://schemas.openxmlformats.org/officeDocument/2006/relationships/image" Target="/ppt/media/image2.png" Id="R6b1ecbd98e604a2a" /><Relationship Type="http://schemas.openxmlformats.org/officeDocument/2006/relationships/notesSlide" Target="/ppt/notesSlides/notesSlide2.xml" Id="R0e515bb114c646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cccfe06c52449f" /><Relationship Type="http://schemas.openxmlformats.org/officeDocument/2006/relationships/image" Target="/ppt/media/image3.png" Id="R49f8823ac69d4241" /><Relationship Type="http://schemas.openxmlformats.org/officeDocument/2006/relationships/image" Target="/ppt/media/image4.png" Id="Rec67f3c2e6be4eb1" /><Relationship Type="http://schemas.openxmlformats.org/officeDocument/2006/relationships/notesSlide" Target="/ppt/notesSlides/notesSlide3.xml" Id="Rd8119a459bf346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5e481f1f3a4e06" /><Relationship Type="http://schemas.openxmlformats.org/officeDocument/2006/relationships/image" Target="/ppt/media/image5.png" Id="R52d5e1d6b733440e" /><Relationship Type="http://schemas.openxmlformats.org/officeDocument/2006/relationships/notesSlide" Target="/ppt/notesSlides/notesSlide4.xml" Id="R0ceba0e83acb45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490a2045ea48cf" /><Relationship Type="http://schemas.openxmlformats.org/officeDocument/2006/relationships/image" Target="/ppt/media/image6.png" Id="Rcb95da0e8d464a1e" /><Relationship Type="http://schemas.openxmlformats.org/officeDocument/2006/relationships/notesSlide" Target="/ppt/notesSlides/notesSlide5.xml" Id="R60c0c7270f714a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7cb6f162d54a90" /><Relationship Type="http://schemas.openxmlformats.org/officeDocument/2006/relationships/image" Target="/ppt/media/image7.png" Id="R961f7caf856c4772" /><Relationship Type="http://schemas.openxmlformats.org/officeDocument/2006/relationships/notesSlide" Target="/ppt/notesSlides/notesSlide6.xml" Id="R0194c8fbc6c740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9c5ae48af74915" /><Relationship Type="http://schemas.openxmlformats.org/officeDocument/2006/relationships/image" Target="/ppt/media/image8.png" Id="Rc6f93f5be02c402a" /><Relationship Type="http://schemas.openxmlformats.org/officeDocument/2006/relationships/notesSlide" Target="/ppt/notesSlides/notesSlide7.xml" Id="Rb7a4ae5f9f3948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aedad93e684613" /><Relationship Type="http://schemas.openxmlformats.org/officeDocument/2006/relationships/image" Target="/ppt/media/image9.png" Id="R36c59f4765bb4f0c" /><Relationship Type="http://schemas.openxmlformats.org/officeDocument/2006/relationships/notesSlide" Target="/ppt/notesSlides/notesSlide8.xml" Id="R73091fc6047740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45c64cffd642e8" /><Relationship Type="http://schemas.openxmlformats.org/officeDocument/2006/relationships/image" Target="/ppt/media/image10.png" Id="Rc640c96906f141b5" /><Relationship Type="http://schemas.openxmlformats.org/officeDocument/2006/relationships/notesSlide" Target="/ppt/notesSlides/notesSlide9.xml" Id="Rce52d85093ab4f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9a7062a00b47a5" /><Relationship Type="http://schemas.openxmlformats.org/officeDocument/2006/relationships/image" Target="/ppt/media/image11.png" Id="Rb17e59c2d3cb444c" /><Relationship Type="http://schemas.openxmlformats.org/officeDocument/2006/relationships/notesSlide" Target="/ppt/notesSlides/notesSlide10.xml" Id="R31a1599cd94a40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d13de09f654605" /><Relationship Type="http://schemas.openxmlformats.org/officeDocument/2006/relationships/image" Target="/ppt/media/image12.png" Id="R35210de05ddb4ef2" /><Relationship Type="http://schemas.openxmlformats.org/officeDocument/2006/relationships/notesSlide" Target="/ppt/notesSlides/notesSlide11.xml" Id="Ra1c284427f4c40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b05545b514443e" /><Relationship Type="http://schemas.openxmlformats.org/officeDocument/2006/relationships/image" Target="/ppt/media/image13.png" Id="Rfe70bdb87d524852" /><Relationship Type="http://schemas.openxmlformats.org/officeDocument/2006/relationships/notesSlide" Target="/ppt/notesSlides/notesSlide12.xml" Id="Rfab4aa717c034b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7988E-DC9E-4E00-B98C-ABB78E655C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5f85afa654218"/>
          <a:stretch xmlns:a="http://schemas.openxmlformats.org/drawingml/2006/main"/>
        </p:blipFill>
        <p:spPr>
          <a:xfrm xmlns:a="http://schemas.openxmlformats.org/drawingml/2006/main">
            <a:off x="590550" y="3238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41550-5D57-4675-A408-CE1BABA7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BP Passport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65E57-24D3-4D19-B656-6117FEAD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D706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5AAAB-EA0D-403B-BF65-026D51E5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TECHNICAL, MARKETING AND PITCH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5FE1F-7FD9-48B9-8952-DEBCCD27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defPPr>
            <a:lvl1pPr algn="l">
              <a:defRPr sz="40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0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0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0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0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0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0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0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0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pPr>
            <a:r>
              <a:rPr sz="4050" b="1">
                <a:solidFill>
                  <a:srgbClr val="07383A"/>
                </a:solidFill>
                <a:latin typeface="Georgia"/>
                <a:ea typeface="Georgia"/>
                <a:cs typeface="Georgia"/>
              </a:rPr>
              <a:t>BP Passport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852DF-FCAA-465A-BDFD-93FFAAED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8E80"/>
                </a:solidFill>
                <a:latin typeface="Arial"/>
                <a:ea typeface="Arial"/>
                <a:cs typeface="Arial"/>
              </a:rPr>
              <a:t>Digital blood-pressure care built for Pakistan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74600-DE3F-434E-A598-549BA6CB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A bilingual PWA that helps people check, track and share blood-pressure information with consent.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694A6-2CA5-41AA-9C2F-E7E21B58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0055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E8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6F64C-DC7E-4A2F-8955-C35E7468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Uzair Ahmad, Founder &amp; CEO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73711E-0556-41BC-B4FE-BA79C98B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Muhammad Suhaib, Co-Founder &amp; Tech Lead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F17C26-8BF4-4572-BF72-62BF2C4E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Karachi, Pakistan  |  October 2026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BE979-3BD7-4786-B94C-3D4717BEFC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65d1125d8461e"/>
          <a:srcRect xmlns:a="http://schemas.openxmlformats.org/drawingml/2006/main" l="0" t="3000" r="42000" b="3000"/>
          <a:stretch xmlns:a="http://schemas.openxmlformats.org/drawingml/2006/main"/>
        </p:blipFill>
        <p:spPr>
          <a:xfrm xmlns:a="http://schemas.openxmlformats.org/drawingml/2006/main">
            <a:off x="6153150" y="914400"/>
            <a:ext cx="5448300" cy="49530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383FC6-6DD4-4355-A1F4-AAB26FF8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619750"/>
            <a:ext cx="544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E80"/>
          </a:solidFill>
          <a:ln xmlns:a="http://schemas.openxmlformats.org/drawingml/2006/main" w="0">
            <a:solidFill>
              <a:srgbClr val="0B8E8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600361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8936F8-FB8F-4121-801C-46D53CDFBC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ecbd98e604a2a"/>
          <a:stretch xmlns:a="http://schemas.openxmlformats.org/drawingml/2006/main"/>
        </p:blipFill>
        <p:spPr>
          <a:xfrm xmlns:a="http://schemas.openxmlformats.org/drawingml/2006/main">
            <a:off x="590550" y="3238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CAA9C-E49B-46A6-90AE-6249A1E5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BP Passport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1152E-8CEC-463E-9D1F-A1FB6C87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D706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E9859-B22B-4987-A5DD-A8685B38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706D"/>
                </a:solidFill>
                <a:latin typeface="Arial"/>
                <a:ea typeface="Arial"/>
                <a:cs typeface="Arial"/>
              </a:rPr>
              <a:t>THE NEED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A21FD-8442-4C8B-B7EC-F060072F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A7DA3-6890-452A-8FCD-2BAB247F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A635B-4AE4-425C-89ED-702E7254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7383A"/>
                </a:solidFill>
                <a:latin typeface="Georgia"/>
                <a:ea typeface="Georgia"/>
                <a:cs typeface="Georgia"/>
              </a:rPr>
              <a:t>Pakistan needs continuity after the first BP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3CA10-3859-495A-8D31-1C78985A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The screening gap is large. The follow-up gap is larger.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6BFF0-FBE5-47C8-A6C5-F6842F82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3219450" cy="3352800"/>
          </a:xfrm>
          <a:prstGeom xmlns:a="http://schemas.openxmlformats.org/drawingml/2006/main" prst="roundRect">
            <a:avLst>
              <a:gd name="adj" fmla="val 4734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0">
            <a:solidFill>
              <a:srgbClr val="1023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CA122E-0AD8-4A69-A000-4FA9DCF9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2714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E87461"/>
                </a:solidFill>
                <a:latin typeface="Georgia"/>
                <a:ea typeface="Georgia"/>
                <a:cs typeface="Georgia"/>
              </a:defRPr>
            </a:defPPr>
            <a:lvl1pPr algn="l">
              <a:defRPr sz="4800" b="1">
                <a:solidFill>
                  <a:srgbClr val="E87461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800" b="1">
                <a:solidFill>
                  <a:srgbClr val="E87461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800" b="1">
                <a:solidFill>
                  <a:srgbClr val="E87461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800" b="1">
                <a:solidFill>
                  <a:srgbClr val="E87461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800" b="1">
                <a:solidFill>
                  <a:srgbClr val="E87461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800" b="1">
                <a:solidFill>
                  <a:srgbClr val="E87461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800" b="1">
                <a:solidFill>
                  <a:srgbClr val="E87461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800" b="1">
                <a:solidFill>
                  <a:srgbClr val="E87461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800" b="1">
                <a:solidFill>
                  <a:srgbClr val="E8746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E87461"/>
                </a:solidFill>
                <a:latin typeface="Georgia"/>
                <a:ea typeface="Georgia"/>
                <a:cs typeface="Georgia"/>
              </a:defRPr>
            </a:pPr>
            <a:r>
              <a:rPr sz="4800" b="1">
                <a:solidFill>
                  <a:srgbClr val="E87461"/>
                </a:solidFill>
                <a:latin typeface="Georgia"/>
                <a:ea typeface="Georgia"/>
                <a:cs typeface="Georgia"/>
              </a:rPr>
              <a:t>32.5M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D7BBB-86F9-460D-8C49-D0E81C99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400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Pakistani adults live with hypertension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79E8B-B9D4-47C4-8A81-695DA6BD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ED5D1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ED5D1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ED5D1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ED5D1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ED5D1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ED5D1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ED5D1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ED5D1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ED5D1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ED5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ED5D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ED5D1"/>
                </a:solidFill>
                <a:latin typeface="Arial"/>
                <a:ea typeface="Arial"/>
                <a:cs typeface="Arial"/>
              </a:rPr>
              <a:t>One in three adults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FB142-AC8A-467A-B261-3C1C6414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617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86103F-EC3A-4E8B-B245-D890A861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product must work outside the clinic and remain useful between visits.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FDDA2-46E8-4C0E-A752-12328197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0030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E87461"/>
                </a:solidFill>
                <a:latin typeface="Georgia"/>
                <a:ea typeface="Georgia"/>
                <a:cs typeface="Georgia"/>
              </a:defRPr>
            </a:defPPr>
            <a:lvl1pPr algn="l">
              <a:defRPr sz="3750" b="1">
                <a:solidFill>
                  <a:srgbClr val="E87461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750" b="1">
                <a:solidFill>
                  <a:srgbClr val="E87461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750" b="1">
                <a:solidFill>
                  <a:srgbClr val="E87461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750" b="1">
                <a:solidFill>
                  <a:srgbClr val="E87461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750" b="1">
                <a:solidFill>
                  <a:srgbClr val="E87461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750" b="1">
                <a:solidFill>
                  <a:srgbClr val="E87461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750" b="1">
                <a:solidFill>
                  <a:srgbClr val="E87461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750" b="1">
                <a:solidFill>
                  <a:srgbClr val="E87461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750" b="1">
                <a:solidFill>
                  <a:srgbClr val="E8746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E87461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E87461"/>
                </a:solidFill>
                <a:latin typeface="Georgia"/>
                <a:ea typeface="Georgia"/>
                <a:cs typeface="Georgia"/>
              </a:rPr>
              <a:t>11%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BF6E3D-72F6-4C9A-8524-9E7AD567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242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currently controlled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457339-4AED-4A8A-BE43-54C7D192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003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defPPr>
            <a:lvl1pPr algn="l">
              <a:defRPr sz="375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75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75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75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75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75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75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75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75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0B8E80"/>
                </a:solidFill>
                <a:latin typeface="Georgia"/>
                <a:ea typeface="Georgia"/>
                <a:cs typeface="Georgia"/>
              </a:rPr>
              <a:t>26.3%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C33BB1-021C-443A-A827-57DF024C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242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have never had BP measured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DD6709-798F-4871-A4AF-B22A665D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E9AF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750" b="1">
                <a:solidFill>
                  <a:srgbClr val="E9AF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750" b="1">
                <a:solidFill>
                  <a:srgbClr val="E9AF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750" b="1">
                <a:solidFill>
                  <a:srgbClr val="E9AF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750" b="1">
                <a:solidFill>
                  <a:srgbClr val="E9AF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750" b="1">
                <a:solidFill>
                  <a:srgbClr val="E9AF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750" b="1">
                <a:solidFill>
                  <a:srgbClr val="E9AF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750" b="1">
                <a:solidFill>
                  <a:srgbClr val="E9AF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750" b="1">
                <a:solidFill>
                  <a:srgbClr val="E9AF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750" b="1">
                <a:solidFill>
                  <a:srgbClr val="E9AF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E9AF4A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E9AF4A"/>
                </a:solidFill>
                <a:latin typeface="Georgia"/>
                <a:ea typeface="Georgia"/>
                <a:cs typeface="Georgia"/>
              </a:rPr>
              <a:t>1 : 1,300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0B579B-9FEE-463D-90B8-E17E1152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196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doctor-to-patient ratio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4A3DE9-92BB-4BEC-BE90-A1205FA4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576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Product response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25A326-FAB4-4B36-B90C-7C984FFE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81525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07383A"/>
                </a:solidFill>
                <a:latin typeface="Georgia"/>
                <a:ea typeface="Georgia"/>
                <a:cs typeface="Georgia"/>
              </a:rPr>
              <a:t>screen once, then track, guide and share</a:t>
            </a:r>
          </a:p>
        </p:txBody>
      </p:sp>
    </p:spTree>
    <p:extLst>
      <p:ext uri="{BB962C8B-B14F-4D97-AF65-F5344CB8AC3E}">
        <p14:creationId xmlns:p14="http://schemas.microsoft.com/office/powerpoint/2010/main" val="9799399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9E3BBE-756E-4D44-976A-38A9DAE0E9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8823ac69d4241"/>
          <a:stretch xmlns:a="http://schemas.openxmlformats.org/drawingml/2006/main"/>
        </p:blipFill>
        <p:spPr>
          <a:xfrm xmlns:a="http://schemas.openxmlformats.org/drawingml/2006/main">
            <a:off x="590550" y="3238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6F00F-A54A-436A-9049-3677BB5F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BP Passport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924A5-49E6-46A4-A53A-B04CAA40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D706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BF5B1-3CD6-4512-A7DA-688416CD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706D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8B62E-A5B6-4C33-A61D-524AC845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211C4-6CFD-4B1D-8691-4D929336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2219D-4927-4031-80F1-A0F6A6AD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7383A"/>
                </a:solidFill>
                <a:latin typeface="Georgia"/>
                <a:ea typeface="Georgia"/>
                <a:cs typeface="Georgia"/>
              </a:rPr>
              <a:t>One journey from a first check to ongoing care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FF455-B9BC-448B-B0E0-6612AD34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Simple enough for a first-time user. Structured enough for a clinician.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8DE53-6E1B-4B6C-AF22-6EDE581B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E80"/>
          </a:solidFill>
          <a:ln xmlns:a="http://schemas.openxmlformats.org/drawingml/2006/main" w="0">
            <a:solidFill>
              <a:srgbClr val="0B8E8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920B6-9A78-4694-B70E-F9194A9D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145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B9A7B-29A0-464D-BFAB-DB3976EC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238D2-45D6-4FAB-BF23-4E0A1A87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3365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Start from a QR link or the web. No app-store install.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085BB-29ED-413A-A71A-34B765B1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0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A1E239-CBD7-4763-934F-30A4CF2E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86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E80"/>
          </a:solidFill>
          <a:ln xmlns:a="http://schemas.openxmlformats.org/drawingml/2006/main" w="0">
            <a:solidFill>
              <a:srgbClr val="0B8E8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68791A-AC3C-41BB-95BF-5B32AEC9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432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A8AAC-2ED2-4260-84AF-9B53598D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55B5B9-CE57-4073-B3CB-BCCBA005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Answer the guided health check and see a clear next step.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668577-2F32-43B4-B563-EC01727A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0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93FA94-9B04-4988-ACBC-2ECE4C25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E80"/>
          </a:solidFill>
          <a:ln xmlns:a="http://schemas.openxmlformats.org/drawingml/2006/main" w="0">
            <a:solidFill>
              <a:srgbClr val="0B8E8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9F07A9-57BA-4EF5-B34F-80B80183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719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AE50A7-5150-44A9-87BC-945EF64A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053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Track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386647-142B-4E80-9B94-29944635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Save BP readings, medicines, reminders and progress.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488E53-3BB5-409B-A087-38325F71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0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8232B2-BE6C-482C-9B9A-EF54B9BA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43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E80"/>
          </a:solidFill>
          <a:ln xmlns:a="http://schemas.openxmlformats.org/drawingml/2006/main" w="0">
            <a:solidFill>
              <a:srgbClr val="0B8E8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E929DD-1786-41AC-96CF-ACCE5B59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0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51DD57-AECC-4810-A898-C99E868A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3400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Share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2BB041-B9F3-4FB7-8A16-EACF1F7C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19750"/>
            <a:ext cx="350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Grant a clinician expiring, read-only access and revoke it anytime.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7E22A2-F88E-41C2-A0A1-69300B9A88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7f3c2e6be4eb1"/>
          <a:srcRect xmlns:a="http://schemas.openxmlformats.org/drawingml/2006/main" l="0" t="0" r="0" b="18000"/>
          <a:stretch xmlns:a="http://schemas.openxmlformats.org/drawingml/2006/main"/>
        </p:blipFill>
        <p:spPr>
          <a:xfrm xmlns:a="http://schemas.openxmlformats.org/drawingml/2006/main">
            <a:off x="5105400" y="2133600"/>
            <a:ext cx="6496050" cy="3733800"/>
          </a:xfrm>
          <a:prstGeom xmlns:a="http://schemas.openxmlformats.org/drawingml/2006/main" prst="roundRect">
            <a:avLst>
              <a:gd name="adj" fmla="val 4082"/>
            </a:avLst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ACDEDE-B03D-43DF-A694-B1CAC751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9626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9"/>
          </a:solidFill>
          <a:ln xmlns:a="http://schemas.openxmlformats.org/drawingml/2006/main" w="0">
            <a:solidFill>
              <a:srgbClr val="DDEF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33352D-9F9B-4C4E-92F6-B866F6DA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01980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76E67"/>
                </a:solidFill>
                <a:latin typeface="Arial"/>
                <a:ea typeface="Arial"/>
                <a:cs typeface="Arial"/>
              </a:rPr>
              <a:t>ENGLISH + URDU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A5D30D-0E33-4283-AD2E-E9452A2C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962650"/>
            <a:ext cx="666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9"/>
          </a:solidFill>
          <a:ln xmlns:a="http://schemas.openxmlformats.org/drawingml/2006/main" w="0">
            <a:solidFill>
              <a:srgbClr val="DDEF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74E59B-7DCD-43BA-B7F9-FF6C494D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0198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76E67"/>
                </a:solidFill>
                <a:latin typeface="Arial"/>
                <a:ea typeface="Arial"/>
                <a:cs typeface="Arial"/>
              </a:rPr>
              <a:t>PWA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90953A-29F4-48F9-852F-A0635706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962650"/>
            <a:ext cx="1219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9"/>
          </a:solidFill>
          <a:ln xmlns:a="http://schemas.openxmlformats.org/drawingml/2006/main" w="0">
            <a:solidFill>
              <a:srgbClr val="DDEF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A82ACB-A50F-4D0B-93BD-26307542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01980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76E67"/>
                </a:solidFill>
                <a:latin typeface="Arial"/>
                <a:ea typeface="Arial"/>
                <a:cs typeface="Arial"/>
              </a:rPr>
              <a:t>VOICE + TEXT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6EF1B8-35E2-47EE-AA00-30867D83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962650"/>
            <a:ext cx="10096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9"/>
          </a:solidFill>
          <a:ln xmlns:a="http://schemas.openxmlformats.org/drawingml/2006/main" w="0">
            <a:solidFill>
              <a:srgbClr val="DDEF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6F1896-641B-4DE1-9641-307DAF4A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019800"/>
            <a:ext cx="1009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076E6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76E67"/>
                </a:solidFill>
                <a:latin typeface="Arial"/>
                <a:ea typeface="Arial"/>
                <a:cs typeface="Arial"/>
              </a:rPr>
              <a:t>LOCAL-FIRST</a:t>
            </a:r>
          </a:p>
        </p:txBody>
      </p:sp>
    </p:spTree>
    <p:extLst>
      <p:ext uri="{BB962C8B-B14F-4D97-AF65-F5344CB8AC3E}">
        <p14:creationId xmlns:p14="http://schemas.microsoft.com/office/powerpoint/2010/main" val="3048466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D2CE74-A75F-4CE0-837C-1F808B5A19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5e1d6b733440e"/>
          <a:stretch xmlns:a="http://schemas.openxmlformats.org/drawingml/2006/main"/>
        </p:blipFill>
        <p:spPr>
          <a:xfrm xmlns:a="http://schemas.openxmlformats.org/drawingml/2006/main">
            <a:off x="590550" y="3238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887D4-CCC1-4B61-BA60-4BE1461D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BP Passport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1245B-5187-4DD2-93AB-72B28188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D706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64967-9D94-4755-970A-6A424CB6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706D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3E65E-BFF5-4E6E-9EFC-358D4706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592AA-8580-4E6C-8463-3E63502B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2F329-5FE8-4DE8-B173-81A14458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7383A"/>
                </a:solidFill>
                <a:latin typeface="Georgia"/>
                <a:ea typeface="Georgia"/>
                <a:cs typeface="Georgia"/>
              </a:rPr>
              <a:t>Three workspaces, one care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BD656-A628-489F-83C0-DCAC34F4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Patient, clinician and programme roles stay separate and clear.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1BDC2-A2C5-4042-AB19-7A5A8DA7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E80"/>
          </a:solidFill>
          <a:ln xmlns:a="http://schemas.openxmlformats.org/drawingml/2006/main" w="0">
            <a:solidFill>
              <a:srgbClr val="0B8E8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EC1D8-6B3D-4078-AEF2-21613CFB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8E80"/>
                </a:solidFill>
                <a:latin typeface="Arial"/>
                <a:ea typeface="Arial"/>
                <a:cs typeface="Arial"/>
              </a:rPr>
              <a:t>PATIENT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E3569-5A8B-407C-A86E-481B1913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07383A"/>
                </a:solidFill>
                <a:latin typeface="Georgia"/>
                <a:ea typeface="Georgia"/>
                <a:cs typeface="Georgia"/>
              </a:rPr>
              <a:t>Daily care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F0310-F9B7-4086-A6E7-0FA316DB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05050"/>
            <a:ext cx="704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Health check, BP log, medicines, reminders, reports, caregiver controls, streaks and a bilingual voice or text assistant.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9F525-D415-4DCD-B01C-222C63C1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02004-AE7F-4D40-8658-DF725779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461"/>
          </a:solidFill>
          <a:ln xmlns:a="http://schemas.openxmlformats.org/drawingml/2006/main" w="0">
            <a:solidFill>
              <a:srgbClr val="E874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70CE0-B7E6-4011-9495-FB05D322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CLINICIAN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AA06D9-ADFA-451C-8397-57F8B8B2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480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07383A"/>
                </a:solidFill>
                <a:latin typeface="Georgia"/>
                <a:ea typeface="Georgia"/>
                <a:cs typeface="Georgia"/>
              </a:rPr>
              <a:t>Read-only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81908-BAD1-404C-A666-A9990E4E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86150"/>
            <a:ext cx="704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A separate portal lists consented patients, opens structured trends and respects share expiry or instant revocation.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1E35F0-7B36-440E-8B82-E46CF7E1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389F3F-C431-4F3E-B578-9BCEE634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F4A"/>
          </a:solidFill>
          <a:ln xmlns:a="http://schemas.openxmlformats.org/drawingml/2006/main" w="0">
            <a:solidFill>
              <a:srgbClr val="E9AF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2FA1FD-4B8E-4444-A992-5451C3AB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9AF4A"/>
                </a:solidFill>
                <a:latin typeface="Arial"/>
                <a:ea typeface="Arial"/>
                <a:cs typeface="Arial"/>
              </a:rPr>
              <a:t>PROGRAMME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E2C05A-E721-4938-9559-1738B95F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291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07383A"/>
                </a:solidFill>
                <a:latin typeface="Georgia"/>
                <a:ea typeface="Georgia"/>
                <a:cs typeface="Georgia"/>
              </a:rPr>
              <a:t>Pilot operations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3CEE59-8CA5-4060-8641-D4E71696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704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A protected admin console supports clinician review and programme oversight without exposing patient dashboards.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6DBA82-952D-4486-988F-2FCDB5FF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AFF485-55C2-4BAE-85FF-191A87BC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8293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8E80"/>
                </a:solidFill>
                <a:latin typeface="Arial"/>
                <a:ea typeface="Arial"/>
                <a:cs typeface="Arial"/>
              </a:rPr>
              <a:t>Current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2938208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196A66-E10A-43D3-B807-9FC635483991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353425" y="31051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E80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9F832A-F4B4-41C3-9E46-27A012A464B2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591175" y="31051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E80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B2E46B-F952-4963-AC08-4DEA9217D2D5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828925" y="31051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E80"/>
            </a:solidFill>
            <a:prstDash val="solid"/>
            <a:tailEnd type="triangle" w="sm" len="sm"/>
          </a:ln>
        </p:spPr>
      </p:cxn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859DF1-C3C0-4552-85B3-58F489F9B1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5da0e8d464a1e"/>
          <a:stretch xmlns:a="http://schemas.openxmlformats.org/drawingml/2006/main"/>
        </p:blipFill>
        <p:spPr>
          <a:xfrm xmlns:a="http://schemas.openxmlformats.org/drawingml/2006/main">
            <a:off x="590550" y="3238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D60BD-0A3E-4BEE-9348-9A72697C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BP Passport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ED8BD-0B26-490E-9F71-50FE4E33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D706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5CE10-44B6-4594-8BD1-5357FE65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706D"/>
                </a:solidFill>
                <a:latin typeface="Arial"/>
                <a:ea typeface="Arial"/>
                <a:cs typeface="Arial"/>
              </a:rPr>
              <a:t>SAFETY AND TRUST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401AB-FC97-4A3E-A263-3AA0837E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177A1-8193-4D40-B8EA-F593C180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81C24-33F7-4629-AC12-C1A2AD91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7383A"/>
                </a:solidFill>
                <a:latin typeface="Georgia"/>
                <a:ea typeface="Georgia"/>
                <a:cs typeface="Georgia"/>
              </a:rPr>
              <a:t>Clinical safety runs before the AI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B9BA0-22BA-4169-BB8F-75D5BCAF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The assistant can improve wording. It never owns emergency detection or clinical thresholds.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F0CF5-5F84-451F-869E-C47D05D8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RESPONSE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1CEE9-BDE5-43B2-81B8-C8BBFD27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2238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65572-5EC0-4A9B-89C3-B0855949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E80"/>
          </a:solidFill>
          <a:ln xmlns:a="http://schemas.openxmlformats.org/drawingml/2006/main" w="0">
            <a:solidFill>
              <a:srgbClr val="0B8E8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2F7F7A-425B-4A4B-9D9F-647351C4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838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User 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8A17A-9E3C-4698-BD8D-D16AD97C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BP values, symptoms or a spoken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BA39E-670B-490E-91F7-FBF92A50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2238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503A9-E490-4CB0-B36A-A8E0C3C1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7461"/>
          </a:solidFill>
          <a:ln xmlns:a="http://schemas.openxmlformats.org/drawingml/2006/main" w="0">
            <a:solidFill>
              <a:srgbClr val="E8746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458BC-686E-4DB3-8F8B-8BB84D20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43200"/>
            <a:ext cx="1838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Deterministic triage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B4D75-880D-4226-B574-A401BDFD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67050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Red-flag symptoms and crisis thresholds run first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A85CD1-6E84-4545-A7DE-87D6D101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71750"/>
            <a:ext cx="2238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C19D2-2D65-4B69-9103-DAFE9477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7175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AF4A"/>
          </a:solidFill>
          <a:ln xmlns:a="http://schemas.openxmlformats.org/drawingml/2006/main" w="0">
            <a:solidFill>
              <a:srgbClr val="E9AF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7BFE32-A1F0-46E4-BF92-E199E7F5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43200"/>
            <a:ext cx="1838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Local or model reply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37E0AD-E5E9-43CE-8541-01A5FA0B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67050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The app works without a model key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0AE2B2-2ACC-4063-B076-D459D430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71750"/>
            <a:ext cx="27241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27BEF2-E840-40F9-9CFC-3F8D2F08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7175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E80"/>
          </a:solidFill>
          <a:ln xmlns:a="http://schemas.openxmlformats.org/drawingml/2006/main" w="0">
            <a:solidFill>
              <a:srgbClr val="0B8E8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52DF66-63FA-4CA2-AB0D-ADF35F5F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432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DRAP output guardrail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06E007-075C-48DF-8404-AADA77FB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67050"/>
            <a:ext cx="232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Unsafe diagnosis or therapy language fails closed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95A629-588F-498E-A85E-1DA5DDC8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PRIVACY CONTROLS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C12AE4-D1F7-4AAA-BA7F-43F42282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Explicit consent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11EB19-FDD1-4CDA-B35A-373DEFC5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768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essential, research and reminders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F13386-59BE-4D11-AB30-1D60C2FF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33900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80BD95-8700-4C18-BC46-00120747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52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Patient-controlled sharing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20242E-D586-4C18-8A1B-ADA23754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768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expiring, read-only and revocable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2D5B80-99A2-40DB-A40D-7087ED36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33900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FC12CA-7A8C-4B87-863F-240CAC11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52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Session revocation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650337-BD2A-44A3-83E0-644D88F3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768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global sign-out plus server blacklist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199223-DB12-4A98-998D-11E7EDF0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33900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A38D05-D7CA-4CA4-8C8C-4A0C7B96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52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Database boundary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5A2B04-95E1-409D-BFB0-5CF2819D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768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forced RLS and append-only audit events</a:t>
            </a:r>
          </a:p>
        </p:txBody>
      </p:sp>
    </p:spTree>
    <p:extLst>
      <p:ext uri="{BB962C8B-B14F-4D97-AF65-F5344CB8AC3E}">
        <p14:creationId xmlns:p14="http://schemas.microsoft.com/office/powerpoint/2010/main" val="12054477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A10B20-89A6-4A58-8941-3C2E9DC90470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6019800" y="3143250"/>
            <a:ext cx="3714750" cy="8763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0B8E80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157C8D-747E-48D3-8262-1710EA4B133A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019800" y="31432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E80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B1AF43-079F-4F5C-B2F1-CABCE3A32FE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971800" y="31432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E80"/>
            </a:solidFill>
            <a:prstDash val="solid"/>
            <a:tailEnd type="triangle" w="sm" len="sm"/>
          </a:ln>
        </p:spPr>
      </p:cxn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A3D597-0CEC-461B-AFF2-DE18F10105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f7caf856c4772"/>
          <a:stretch xmlns:a="http://schemas.openxmlformats.org/drawingml/2006/main"/>
        </p:blipFill>
        <p:spPr>
          <a:xfrm xmlns:a="http://schemas.openxmlformats.org/drawingml/2006/main">
            <a:off x="590550" y="3238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4E263-D7B2-4DCD-B8D4-A669387C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BP Passport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EA236-95A8-4A77-BBC0-A613FAEC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D706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56EB8-E5E1-4CD6-8928-64CF17E5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706D"/>
                </a:solidFill>
                <a:latin typeface="Arial"/>
                <a:ea typeface="Arial"/>
                <a:cs typeface="Arial"/>
              </a:rPr>
              <a:t>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1A554-24D5-4755-9890-09F4C15C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BB9FB-D76F-435B-A4FD-C503127B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A0874-8936-4F41-9B87-03AD2F6C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7383A"/>
                </a:solidFill>
                <a:latin typeface="Georgia"/>
                <a:ea typeface="Georgia"/>
                <a:cs typeface="Georgia"/>
              </a:rPr>
              <a:t>One Next.js application serves every product surface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5A25F-4800-4467-8276-5622650B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The architecture stays small enough for a two-person team and strong enough for a controlled pilot.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A96A5-4D5A-4BFA-889A-8542F69B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2530D-E1F7-4139-BC68-6143F506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6667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E80"/>
          </a:solidFill>
          <a:ln xmlns:a="http://schemas.openxmlformats.org/drawingml/2006/main" w="0">
            <a:solidFill>
              <a:srgbClr val="0B8E8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8CC29-B2D4-47A6-8904-3D0A39C2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Client PWA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BFA20-E042-4DD2-B277-D5EF9EF7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1981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Patient, clinician and admin routes</a:t>
            </a:r>
          </a:p>
          <a:p xmlns:a="http://schemas.openxmlformats.org/drawingml/2006/main">
            <a: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English and Urdu, RTL, service worker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CE636-1421-4581-A184-B9AC1A98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81250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4439D-BD3F-47A8-8C3C-95844C20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81250"/>
            <a:ext cx="6667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7461"/>
          </a:solidFill>
          <a:ln xmlns:a="http://schemas.openxmlformats.org/drawingml/2006/main" w="0">
            <a:solidFill>
              <a:srgbClr val="E874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1D7610-1738-42AF-82ED-EF44BDC1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527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Next.js 16.3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27E00-2292-4F90-962A-30959740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76550"/>
            <a:ext cx="1981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React 19 and TypeScript</a:t>
            </a:r>
          </a:p>
          <a:p xmlns:a="http://schemas.openxmlformats.org/drawingml/2006/main">
            <a: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App Router pages plus 16 route handlers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C5FEF-12A4-4496-A28D-15081F22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81250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1B1452-2F35-4B61-8206-06C18664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81250"/>
            <a:ext cx="6667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AF4A"/>
          </a:solidFill>
          <a:ln xmlns:a="http://schemas.openxmlformats.org/drawingml/2006/main" w="0">
            <a:solidFill>
              <a:srgbClr val="E9AF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F373E3-83A2-4334-A34C-FDCD605B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Supabase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C42B5-560D-44E3-99CA-20B89B5E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76550"/>
            <a:ext cx="1981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Email Auth and PostgreSQL</a:t>
            </a:r>
          </a:p>
          <a:p xmlns:a="http://schemas.openxmlformats.org/drawingml/2006/main">
            <a: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12 migrations, RLS and audit log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11AEB1-D291-4214-B1F1-F61579D8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81250"/>
            <a:ext cx="18669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3E0D06-0936-4878-A23D-A3ECAAA4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81250"/>
            <a:ext cx="6667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E80"/>
          </a:solidFill>
          <a:ln xmlns:a="http://schemas.openxmlformats.org/drawingml/2006/main" w="0">
            <a:solidFill>
              <a:srgbClr val="0B8E8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AE50BA-1D1A-4276-B7CC-147232A7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527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Optional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EB4D41-58AF-417E-B8AD-9AF0DF8F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76550"/>
            <a:ext cx="14668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Gemini, Groq or Anthropic</a:t>
            </a:r>
          </a:p>
          <a:p xmlns:a="http://schemas.openxmlformats.org/drawingml/2006/main">
            <a: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PostHog, Sentry and Resend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33C381-4B94-491C-BF0E-2E0B10E6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110109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0">
            <a:solidFill>
              <a:srgbClr val="1023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4FC90C-2C66-4DAA-A686-2E2B2335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958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Local-first fallback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11D8AF-08C2-4863-AB65-3AACFC66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386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D8E9E6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D8E9E6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D8E9E6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D8E9E6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D8E9E6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D8E9E6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D8E9E6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D8E9E6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D8E9E6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D8E9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8E9E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E9E6"/>
                </a:solidFill>
                <a:latin typeface="Arial"/>
                <a:ea typeface="Arial"/>
                <a:cs typeface="Arial"/>
              </a:rPr>
              <a:t>The health check and saved Passport work without cloud configuration. Consented records sync when Supabase is enabled.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791375-C26C-46E3-A076-409BFCD5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Browser → API → PostgreSQL</a:t>
            </a:r>
          </a:p>
        </p:txBody>
      </p:sp>
    </p:spTree>
    <p:extLst>
      <p:ext uri="{BB962C8B-B14F-4D97-AF65-F5344CB8AC3E}">
        <p14:creationId xmlns:p14="http://schemas.microsoft.com/office/powerpoint/2010/main" val="15657105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E8F704-38BF-424C-8852-04BC079189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93f5be02c402a"/>
          <a:stretch xmlns:a="http://schemas.openxmlformats.org/drawingml/2006/main"/>
        </p:blipFill>
        <p:spPr>
          <a:xfrm xmlns:a="http://schemas.openxmlformats.org/drawingml/2006/main">
            <a:off x="590550" y="3238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6B367-DC70-42FC-B21C-84A90500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BP Passport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D10F3-5C08-4057-8B2D-18AC67A6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D706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B763B-E161-4CAA-AB2B-F24631AC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706D"/>
                </a:solidFill>
                <a:latin typeface="Arial"/>
                <a:ea typeface="Arial"/>
                <a:cs typeface="Arial"/>
              </a:rPr>
              <a:t>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CE8DD-56BC-4462-8192-A088E496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558C9-959F-4325-8282-6D365579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06644-E357-4EE3-A202-2D21A0C2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7383A"/>
                </a:solidFill>
                <a:latin typeface="Georgia"/>
                <a:ea typeface="Georgia"/>
                <a:cs typeface="Georgia"/>
              </a:rPr>
              <a:t>The stack is conventional by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9E9C0-A5D4-45AA-A38E-31E5D54B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Security and clinical behaviour receive the complexity budget.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1067C-AAF1-4711-9C38-4643E3F3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APPLICATION STACK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9E5E5-F8F7-4051-B62F-1FC9A638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8E80"/>
                </a:solidFill>
                <a:latin typeface="Arial"/>
                <a:ea typeface="Arial"/>
                <a:cs typeface="Arial"/>
              </a:rPr>
              <a:t>Web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33400-10D5-4984-A3CD-1931ADDD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336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Next.js 16.3, React 19.1, strict TypeScript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23E4B-92D9-4A14-80A7-370D2FE5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C6EC4-0D5B-4E25-86F0-ACDA02E3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8E80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C23C5-46C4-4C31-85E7-5A4B27CE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432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Tailwind CSS v4 with a CSS-first design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D0512-3272-4EE9-AD3E-A86B48C5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F5C29-014F-4A17-BEF7-1ED24A3A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8E80"/>
                </a:solidFill>
                <a:latin typeface="Arial"/>
                <a:ea typeface="Arial"/>
                <a:cs typeface="Arial"/>
              </a:rPr>
              <a:t>Language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9D3A1A-320C-47A1-B5B9-B07DFBBB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528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next-intl with English, Urdu and true RTL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58988-2435-41F6-A767-FA18D2CD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4BFB97-8E3C-47CB-95D9-D5ECC312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624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8E80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0E432B-A08B-40FB-ABB2-9BAD0049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624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Supabase Auth and PostgreSQL with forced RLS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93FFB6-1800-42BE-844D-C005F00C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91075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8C55C0-2B2E-4143-98D1-DD80D210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8E80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4D2922-F463-4495-BA3E-266C3824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720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Zod at boundaries, Vitest and PGlite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8804B4-8198-4288-82D9-19AB438D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00675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9530E3-5E25-4D81-A929-671DF6BB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5010150" cy="337185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EEF7F3"/>
          </a:solidFill>
          <a:ln xmlns:a="http://schemas.openxmlformats.org/drawingml/2006/main" w="0">
            <a:solidFill>
              <a:srgbClr val="EEF7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0693D6-4512-43C1-B945-C37C6FF6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QUALITY CONTROLS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D2FABC-1F6A-4C0D-B9B6-7CD64C1B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9085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defPPr>
            <a:lvl1pPr algn="l">
              <a:defRPr sz="390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90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90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90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90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90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90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90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90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0B8E80"/>
                </a:solidFill>
                <a:latin typeface="Georgia"/>
                <a:ea typeface="Georgia"/>
                <a:cs typeface="Georgia"/>
              </a:rPr>
              <a:t>122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2255BB-BFE3-412B-9D20-47B848CA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004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automated tests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916672-139E-4F43-ACC9-33A33194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8620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Clinical thresholds, every lifestyle combination, database migrations, RLS, sharing, consent and session revocation.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4866B8-B226-4B4C-A4B1-421C2BC1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10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8E80"/>
                </a:solidFill>
                <a:latin typeface="Arial"/>
                <a:ea typeface="Arial"/>
                <a:cs typeface="Arial"/>
              </a:rPr>
              <a:t>Production checks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76D608-711F-45B3-9241-83EA38B9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10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lint, typecheck, tests, build</a:t>
            </a:r>
          </a:p>
        </p:txBody>
      </p:sp>
    </p:spTree>
    <p:extLst>
      <p:ext uri="{BB962C8B-B14F-4D97-AF65-F5344CB8AC3E}">
        <p14:creationId xmlns:p14="http://schemas.microsoft.com/office/powerpoint/2010/main" val="13100535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5052D1-3D67-44F0-88ED-191F3BF50D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59f4765bb4f0c"/>
          <a:stretch xmlns:a="http://schemas.openxmlformats.org/drawingml/2006/main"/>
        </p:blipFill>
        <p:spPr>
          <a:xfrm xmlns:a="http://schemas.openxmlformats.org/drawingml/2006/main">
            <a:off x="590550" y="3238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005BF-03E3-482C-A381-16A43CC0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BP Passport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7161E-2A58-475D-BA5D-EBB40929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D706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696D7-4AD6-444A-A5A4-EA3C2918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706D"/>
                </a:solidFill>
                <a:latin typeface="Arial"/>
                <a:ea typeface="Arial"/>
                <a:cs typeface="Arial"/>
              </a:rPr>
              <a:t>MARKET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F1576-070A-4C78-9312-3FCD0A8E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9528C-8E93-4966-9FA1-38E142A6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C2470-A3F3-48E2-B293-3F7B0091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7383A"/>
                </a:solidFill>
                <a:latin typeface="Georgia"/>
                <a:ea typeface="Georgia"/>
                <a:cs typeface="Georgia"/>
              </a:rPr>
              <a:t>Patient access stays free. Organizations fund delivery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36550-3DD7-4D00-930E-C6DFA1E8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The commercial buyer and the care user are deliberately different.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F17D5-D86A-452A-A96A-95768BEE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8E80"/>
                </a:solidFill>
                <a:latin typeface="Arial"/>
                <a:ea typeface="Arial"/>
                <a:cs typeface="Arial"/>
              </a:rPr>
              <a:t>PEOPLE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91EF1-47C6-4CD6-8008-471EB85D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07383A"/>
                </a:solidFill>
                <a:latin typeface="Georgia"/>
                <a:ea typeface="Georgia"/>
                <a:cs typeface="Georgia"/>
              </a:rPr>
              <a:t>Check and track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371DC-ED4C-4569-8B5D-1E743038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Free health check, Passport, assistant and sharing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2EF2B-3EE3-48C2-A9E9-840570A5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E80"/>
          </a:solidFill>
          <a:ln xmlns:a="http://schemas.openxmlformats.org/drawingml/2006/main" w="0">
            <a:solidFill>
              <a:srgbClr val="0B8E8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8E7EA-78A1-498E-B74B-42EE53C2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003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CLINICIANS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5181F-4D7A-49BE-BD9D-67E96F1E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622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07383A"/>
                </a:solidFill>
                <a:latin typeface="Georgia"/>
                <a:ea typeface="Georgia"/>
                <a:cs typeface="Georgia"/>
              </a:rPr>
              <a:t>Review trends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D46DFB-2FC4-4DD4-9F27-CF6C2D9A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909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Structured read-only records from patients who grant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2C14A-F0D5-4E16-92E8-1731056D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767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461"/>
          </a:solidFill>
          <a:ln xmlns:a="http://schemas.openxmlformats.org/drawingml/2006/main" w="0">
            <a:solidFill>
              <a:srgbClr val="E8746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4C796-66C8-4010-8CDE-AEE325B4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003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9AF4A"/>
                </a:solidFill>
                <a:latin typeface="Arial"/>
                <a:ea typeface="Arial"/>
                <a:cs typeface="Arial"/>
              </a:rPr>
              <a:t>PROGRAMME PARTNERS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5DD931-0223-4AF5-8DB3-D6916E6B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622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07383A"/>
                </a:solidFill>
                <a:latin typeface="Georgia"/>
                <a:ea typeface="Georgia"/>
                <a:cs typeface="Georgia"/>
              </a:rPr>
              <a:t>Reach populations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AEC568-1420-40FF-A652-B3C675EF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909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Campaign deployment, aggregate pilot reporting and operations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421F12-13EB-4821-BB13-BFAC528B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767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F4A"/>
          </a:solidFill>
          <a:ln xmlns:a="http://schemas.openxmlformats.org/drawingml/2006/main" w="0">
            <a:solidFill>
              <a:srgbClr val="E9AF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914059-2F38-4FD0-A17F-0164837A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11010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0">
            <a:solidFill>
              <a:srgbClr val="1023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D083A5-EF9A-487F-A05A-0E4E3727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Initial wedge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408195-EC23-479E-BB7C-AB6F8F38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387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26.3% of Pakistani adults have never had their blood pressure measured.</a:t>
            </a:r>
          </a:p>
        </p:txBody>
      </p:sp>
    </p:spTree>
    <p:extLst>
      <p:ext uri="{BB962C8B-B14F-4D97-AF65-F5344CB8AC3E}">
        <p14:creationId xmlns:p14="http://schemas.microsoft.com/office/powerpoint/2010/main" val="16353151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78E936-28A3-46F9-96AB-F29A48D62900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477125" y="3400425"/>
            <a:ext cx="1057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E80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DB42DC-DF44-4191-B041-8D24FDDF24ED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657600" y="3400425"/>
            <a:ext cx="1057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E80"/>
            </a:solidFill>
            <a:prstDash val="solid"/>
            <a:tailEnd type="triangle" w="sm" len="sm"/>
          </a:ln>
        </p:spPr>
      </p:cxn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2219F2-C7D8-4FBB-9CDA-725D87CB55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0c96906f141b5"/>
          <a:stretch xmlns:a="http://schemas.openxmlformats.org/drawingml/2006/main"/>
        </p:blipFill>
        <p:spPr>
          <a:xfrm xmlns:a="http://schemas.openxmlformats.org/drawingml/2006/main">
            <a:off x="590550" y="3238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36D4D-23FA-47D4-88DC-45A1BF90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BP Passport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20D78-803C-42CC-8E66-86339DD8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D706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D5B2D-252E-400A-A429-BF15D576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706D"/>
                </a:solidFill>
                <a:latin typeface="Arial"/>
                <a:ea typeface="Arial"/>
                <a:cs typeface="Arial"/>
              </a:rPr>
              <a:t>GO TO MARKET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BD9AD-1F3E-4736-9227-DA572ED7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E7398-17CF-461B-9657-3B1AA36B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69FDC-EDDA-4C5E-8940-39D0DD74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7383A"/>
                </a:solidFill>
                <a:latin typeface="Georgia"/>
                <a:ea typeface="Georgia"/>
                <a:cs typeface="Georgia"/>
              </a:rPr>
              <a:t>A pilot loop links screening to clinician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D511B-B763-4062-AAED-78661CF5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Each channel feeds the next instead of operating as a separate campaign.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E2F34-BB97-44D3-A8D3-E88B4436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2762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897C3-9A42-418B-A7FC-E6CB4325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E80"/>
          </a:solidFill>
          <a:ln xmlns:a="http://schemas.openxmlformats.org/drawingml/2006/main" w="0">
            <a:solidFill>
              <a:srgbClr val="0B8E8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B7C42-7FAF-4889-8203-27F0D10D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1. QR screening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193D57-781D-4596-A30C-F24AB678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81350"/>
            <a:ext cx="2362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Pharmacies, campuses, workplaces and clinics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3CE9B-746F-468F-A570-AE34D9B1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2762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42B94E-6505-4B61-B624-71389E52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7461"/>
          </a:solidFill>
          <a:ln xmlns:a="http://schemas.openxmlformats.org/drawingml/2006/main" w="0">
            <a:solidFill>
              <a:srgbClr val="E874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4CB04A-A3D4-4682-92F9-FA2A06FB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8575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2. Patient follow-up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B68FCB-565A-4460-B85E-F9AE8D82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181350"/>
            <a:ext cx="2362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BP logging, coaching, reports and WhatsApp sharing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CBF3C0-66FB-4D1C-803A-9868DB60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2762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F149B2-CE96-4255-A7DC-2FF90E56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AF4A"/>
          </a:solidFill>
          <a:ln xmlns:a="http://schemas.openxmlformats.org/drawingml/2006/main" w="0">
            <a:solidFill>
              <a:srgbClr val="E9AF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D2B519-986C-4B9B-97B9-6FF7559A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3. Clinician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96A9D5-7B19-428C-8338-C55BC7F8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81350"/>
            <a:ext cx="2362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Structured trends create a reason to return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F9D37D-5116-43EC-93DA-97E3B53D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6245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0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B660CA-B889-4DE1-91BE-5B6DFF21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76800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0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C30B37-EE0B-45E8-8518-F9400AE8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6245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0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BD81DB-99B5-45B3-9888-4505810A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86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6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6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6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6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6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6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6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6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6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07383A"/>
                </a:solidFill>
                <a:latin typeface="Georgia"/>
                <a:ea typeface="Georgia"/>
                <a:cs typeface="Georgia"/>
              </a:rPr>
              <a:t>Programme proof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B6CE4D-3226-466D-83E9-72894D9A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054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completion, referral and repeat-use 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FE6931-8BFB-4557-AC12-B42BE3EE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Core channels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7FAECA-9C24-4A31-8ADE-49715230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531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physical screening, clinical relationships, WhatsApp and direct web</a:t>
            </a:r>
          </a:p>
        </p:txBody>
      </p:sp>
    </p:spTree>
    <p:extLst>
      <p:ext uri="{BB962C8B-B14F-4D97-AF65-F5344CB8AC3E}">
        <p14:creationId xmlns:p14="http://schemas.microsoft.com/office/powerpoint/2010/main" val="17817309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167862-AED0-41F9-9F41-A9E991ECF4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e59c2d3cb444c"/>
          <a:stretch xmlns:a="http://schemas.openxmlformats.org/drawingml/2006/main"/>
        </p:blipFill>
        <p:spPr>
          <a:xfrm xmlns:a="http://schemas.openxmlformats.org/drawingml/2006/main">
            <a:off x="590550" y="3238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86B06-28C5-4F57-B1E7-B8338743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BP Passport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92EC0-47E3-42C8-BB6D-D82D9A06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D706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CE8E7-099E-4D88-95BA-7F05B172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706D"/>
                </a:solidFill>
                <a:latin typeface="Arial"/>
                <a:ea typeface="Arial"/>
                <a:cs typeface="Arial"/>
              </a:rPr>
              <a:t>BUSINESS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03FAF-D6A6-408F-BA3A-AFE948F5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3433C-FB6E-4D2A-A823-61D801E6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E841E-4170-4971-8A47-C3FF3B96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7383A"/>
                </a:solidFill>
                <a:latin typeface="Georgia"/>
                <a:ea typeface="Georgia"/>
                <a:cs typeface="Georgia"/>
              </a:rPr>
              <a:t>Free patient care, funded through B2B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6A0D8-026A-4E4B-88FC-6474E03C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Commercial work must never change patient-facing clinical guidance.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BDA055-F3A1-4EB1-9005-FB32ECD3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6572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0">
            <a:solidFill>
              <a:srgbClr val="1023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94699-BC23-484A-9D75-A8E81052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B8E80"/>
                </a:solidFill>
                <a:latin typeface="Arial"/>
                <a:ea typeface="Arial"/>
                <a:cs typeface="Arial"/>
              </a:rPr>
              <a:t>FREE PATIENT 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9557D-2F2B-4952-8DD2-A43A6B01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Health check, Passport, assistant, reports and clinician sharing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C9184-15ED-48D6-A6BC-78933243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62293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64B4E"/>
          </a:solidFill>
          <a:ln xmlns:a="http://schemas.openxmlformats.org/drawingml/2006/main" w="0">
            <a:solidFill>
              <a:srgbClr val="164B4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9D340-13BF-4E5C-8F64-F78BF315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671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COMMERCIAL SERVICES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741B0C-03F7-4236-9404-4D44A6C2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556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Corporate wellness programmes, clinician SaaS and sponsored deployments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8E229-3DE3-4797-B90B-49ED7625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58864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236F69"/>
          </a:solidFill>
          <a:ln xmlns:a="http://schemas.openxmlformats.org/drawingml/2006/main" w="0">
            <a:solidFill>
              <a:srgbClr val="236F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71E877-BB0F-4DD6-81DD-48F16314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E9AF4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9AF4A"/>
                </a:solidFill>
                <a:latin typeface="Arial"/>
                <a:ea typeface="Arial"/>
                <a:cs typeface="Arial"/>
              </a:rPr>
              <a:t>FUTURE EXTENSIONS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99AA8A-9BD8-4D77-A396-A127104F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Lab integrations, FHIR interoperability and regional multi-tenant SaaS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617C2-2EBE-4F52-9AD3-E675F3CA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43150"/>
            <a:ext cx="379095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ED97D5-F67E-4C96-988A-E274FCA4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479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PLANNING CASE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272FCD-5F4C-4F67-90CD-BAEEDDD5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B8E80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B8E80"/>
                </a:solidFill>
                <a:latin typeface="Georgia"/>
                <a:ea typeface="Georgia"/>
                <a:cs typeface="Georgia"/>
              </a:rPr>
              <a:t>PKR 16.5M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FF3F8B-EA3C-4500-B4B7-EB6F5410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19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staged funding 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848301-B40B-4E4E-B59C-9CA3F04F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148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738A0E-3FD5-4A6F-95AD-1898805B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243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PKR 5.5M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C3E0AC-C1C2-4281-8944-F545AE9D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24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761C81-51F6-432B-84FA-DD8AE34D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053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PKR 11M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4CA81A-541B-45CE-AB40-2B1A2404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05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gated production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C9A9B2-CBE0-4E30-87BF-BE0107E9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5305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Figures are planning assumptions from the supplied investor materials.</a:t>
            </a:r>
          </a:p>
        </p:txBody>
      </p:sp>
    </p:spTree>
    <p:extLst>
      <p:ext uri="{BB962C8B-B14F-4D97-AF65-F5344CB8AC3E}">
        <p14:creationId xmlns:p14="http://schemas.microsoft.com/office/powerpoint/2010/main" val="5550477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638A32-DCE0-41E6-AE2D-6F66AB3B70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10de05ddb4ef2"/>
          <a:stretch xmlns:a="http://schemas.openxmlformats.org/drawingml/2006/main"/>
        </p:blipFill>
        <p:spPr>
          <a:xfrm xmlns:a="http://schemas.openxmlformats.org/drawingml/2006/main">
            <a:off x="590550" y="3238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31BD4-EC41-481E-A8F7-9712A3A6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BP Passport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EC2FF-7E4B-41B1-89B6-84E710D1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D706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09F09-AEE0-4D6B-9484-A5CF720B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706D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B71AE-DB90-424D-86A6-40C2052B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8EC6A-E598-496A-AAB4-7AEC4282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17812-835D-4A65-B1C6-C28B5296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7383A"/>
                </a:solidFill>
                <a:latin typeface="Georgia"/>
                <a:ea typeface="Georgia"/>
                <a:cs typeface="Georgia"/>
              </a:rPr>
              <a:t>Three evidence gates before wider scale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32301-B38B-4EBF-9EE2-6BFCAE9C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The pilot should prove use, clinical relevance and operational repeatability.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6B103-A31C-49FE-8F8C-97661393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8E8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4F95D1-5F47-44B7-985F-A5EBD126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E80"/>
          </a:solidFill>
          <a:ln xmlns:a="http://schemas.openxmlformats.org/drawingml/2006/main" w="0">
            <a:solidFill>
              <a:srgbClr val="0B8E8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9808A-EE86-4567-B8BC-C3C310AA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4E60A-AEE7-454D-8549-AD21005E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14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>
            <a:def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07383A"/>
                </a:solidFill>
                <a:latin typeface="Georgia"/>
                <a:ea typeface="Georgia"/>
                <a:cs typeface="Georgia"/>
              </a:rPr>
              <a:t>Production readiness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16891-F16B-426C-BD29-E2DFDE96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26720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Hosted backend, migrations, email auth, monitoring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721C5A-59D0-4553-845C-BD22CEC7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05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61"/>
          </a:solidFill>
          <a:ln xmlns:a="http://schemas.openxmlformats.org/drawingml/2006/main" w="0">
            <a:solidFill>
              <a:srgbClr val="E874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D82CF-2842-40BA-A871-4AEA54FE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004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F420B-71F6-4F2B-B881-B3DBE219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14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07383A"/>
                </a:solidFill>
                <a:latin typeface="Georgia"/>
                <a:ea typeface="Georgia"/>
                <a:cs typeface="Georgia"/>
              </a:rPr>
              <a:t>Karachi pilot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C2F027-F82C-4304-9368-37731658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6720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Three controlled sites with trained operators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46114-BD84-44F3-98DC-94596A0C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05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F4A"/>
          </a:solidFill>
          <a:ln xmlns:a="http://schemas.openxmlformats.org/drawingml/2006/main" w="0">
            <a:solidFill>
              <a:srgbClr val="E9AF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B3E089-0FE2-42BA-897D-737CDE2A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004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BEE524-1E59-4402-925A-78CC7BD1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14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7383A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07383A"/>
                </a:solidFill>
                <a:latin typeface="Georgia"/>
                <a:ea typeface="Georgia"/>
                <a:cs typeface="Georgia"/>
              </a:rPr>
              <a:t>Measured scale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25F566-10F1-4D98-8175-F5FD6910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6720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Expand only after published gates are met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BBC9E2-EA82-4127-85A1-CEC8B783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72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TARGET GATES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6D4F7F-C738-48F4-A59A-4E2A39D6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27685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8E80"/>
                </a:solidFill>
                <a:latin typeface="Arial"/>
                <a:ea typeface="Arial"/>
                <a:cs typeface="Arial"/>
              </a:rPr>
              <a:t>&gt;70%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F95066-A33D-4E3C-B7F2-EB4EECB6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435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health-check completion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CF8C25-64F2-4461-929D-80AFC116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7685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8E80"/>
                </a:solidFill>
                <a:latin typeface="Arial"/>
                <a:ea typeface="Arial"/>
                <a:cs typeface="Arial"/>
              </a:rPr>
              <a:t>&gt;25%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D4AA6F-EA81-4EF6-80D2-34A46236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43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referral click-through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CD8222-5DE8-4796-974D-80A2288D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2768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8E80"/>
                </a:solidFill>
                <a:latin typeface="Arial"/>
                <a:ea typeface="Arial"/>
                <a:cs typeface="Arial"/>
              </a:rPr>
              <a:t>40 / 50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01736A-5E01-4AA4-930B-EC8912FD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3435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738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383A"/>
                </a:solidFill>
                <a:latin typeface="Arial"/>
                <a:ea typeface="Arial"/>
                <a:cs typeface="Arial"/>
              </a:rPr>
              <a:t>clinicians rate portal useful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DF932B-2D68-4A13-9E81-10F0E03E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9055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D706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706D"/>
                </a:solidFill>
                <a:latin typeface="Arial"/>
                <a:ea typeface="Arial"/>
                <a:cs typeface="Arial"/>
              </a:rPr>
              <a:t>Targets from the current pilot plan</a:t>
            </a:r>
          </a:p>
        </p:txBody>
      </p:sp>
    </p:spTree>
    <p:extLst>
      <p:ext uri="{BB962C8B-B14F-4D97-AF65-F5344CB8AC3E}">
        <p14:creationId xmlns:p14="http://schemas.microsoft.com/office/powerpoint/2010/main" val="881519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3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72A271-ED60-4790-9A69-A6D52D030F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70bdb87d524852"/>
          <a:stretch xmlns:a="http://schemas.openxmlformats.org/drawingml/2006/main"/>
        </p:blipFill>
        <p:spPr>
          <a:xfrm xmlns:a="http://schemas.openxmlformats.org/drawingml/2006/main">
            <a:off x="590550" y="3238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4A791-59B4-4677-842E-021ECD27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BP Passport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7D761-514E-4239-A736-AB9C4464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B9DAD4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>
                <a:solidFill>
                  <a:srgbClr val="B9DAD4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>
                <a:solidFill>
                  <a:srgbClr val="B9DAD4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>
                <a:solidFill>
                  <a:srgbClr val="B9DAD4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>
                <a:solidFill>
                  <a:srgbClr val="B9DAD4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>
                <a:solidFill>
                  <a:srgbClr val="B9DAD4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>
                <a:solidFill>
                  <a:srgbClr val="B9DAD4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>
                <a:solidFill>
                  <a:srgbClr val="B9DAD4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>
                <a:solidFill>
                  <a:srgbClr val="B9DAD4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>
                <a:solidFill>
                  <a:srgbClr val="B9DA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B9DAD4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9DAD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14C6D-EEDC-49C8-AAF6-9A057444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B9DAD4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B9DAD4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B9DAD4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B9DAD4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B9DAD4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B9DAD4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B9DAD4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B9DAD4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B9DAD4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B9DA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B9DAD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9DAD4"/>
                </a:solidFill>
                <a:latin typeface="Arial"/>
                <a:ea typeface="Arial"/>
                <a:cs typeface="Arial"/>
              </a:rPr>
              <a:t>TEAM AND NEXT STEP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E61C2-7C23-4BA0-9195-75B188CB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66864-D060-4240-AD3D-5A346AEB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0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D6EDE-B976-4214-B851-50A7587F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019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Built by a clinical-product founder and a full-stack technical lead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2FF35-83E3-4526-90F1-3AFCE655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Uzair Ahmad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6351C-9F1E-498B-ADDF-58236A4C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Founder &amp; CEO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7FBB1-BCB1-45FF-87E1-9F51A636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C5D8D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C5D8D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C5D8D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C5D8D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C5D8D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C5D8D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C5D8D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C5D8D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C5D8D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C5D8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5D8D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5D8D5"/>
                </a:solidFill>
                <a:latin typeface="Arial"/>
                <a:ea typeface="Arial"/>
                <a:cs typeface="Arial"/>
              </a:rPr>
              <a:t>Clinical product direction, partnerships and commercial strategy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2E713-5623-4F25-8873-1AD9EE57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8E80"/>
                </a:solidFill>
                <a:latin typeface="Arial"/>
                <a:ea typeface="Arial"/>
                <a:cs typeface="Arial"/>
              </a:rPr>
              <a:t>Muhammad Suhaib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49513-796B-4C87-99A6-80692312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95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Co-Founder &amp; Tech Lead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2F58F8-324D-44F4-A5BC-3A406E5E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7660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C5D8D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C5D8D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C5D8D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C5D8D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C5D8D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C5D8D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C5D8D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C5D8D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C5D8D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C5D8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5D8D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5D8D5"/>
                </a:solidFill>
                <a:latin typeface="Arial"/>
                <a:ea typeface="Arial"/>
                <a:cs typeface="Arial"/>
              </a:rPr>
              <a:t>Application engineering, data security and deployment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D6F4D7-7968-449D-AA4D-CBEE67DB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302895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63650"/>
          </a:solidFill>
          <a:ln xmlns:a="http://schemas.openxmlformats.org/drawingml/2006/main" w="0">
            <a:solidFill>
              <a:srgbClr val="1636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CDCB3-CFBD-4330-A091-9355E525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146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E8746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87461"/>
                </a:solidFill>
                <a:latin typeface="Arial"/>
                <a:ea typeface="Arial"/>
                <a:cs typeface="Arial"/>
              </a:rPr>
              <a:t>CURRENT 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64F279-0C00-46DF-B41A-547CEECC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Pilot sites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5EDAC8-A1AA-451B-81A1-2C2990CC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95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Clinical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B305D6-9C06-4A98-B8A5-3E3E8072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76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Corporate distribution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B393D7-8C50-471A-B0CF-53EB881A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57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Staged funding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D8E45C-57C1-4833-BA75-28B7817D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0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415EDB-85BE-43E2-99AA-131A3343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863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linkedin.com/in/uzairahmad02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D64976-FDAD-4F29-856C-9664C549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863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linkedin.com/in/msuhaib-03-fsjavadev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6AB0DD-239F-4698-A811-7024CEBA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57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C5D8D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C5D8D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C5D8D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C5D8D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C5D8D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C5D8D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C5D8D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C5D8D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C5D8D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C5D8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5D8D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5D8D5"/>
                </a:solidFill>
                <a:latin typeface="Arial"/>
                <a:ea typeface="Arial"/>
                <a:cs typeface="Arial"/>
              </a:rPr>
              <a:t>Karachi, Sindh, Pakistan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F21D13-B045-4FC1-8040-BB540EB0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578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0B8E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8E80"/>
                </a:solidFill>
                <a:latin typeface="Arial"/>
                <a:ea typeface="Arial"/>
                <a:cs typeface="Arial"/>
              </a:rPr>
              <a:t>BP Passport</a:t>
            </a:r>
          </a:p>
        </p:txBody>
      </p:sp>
    </p:spTree>
    <p:extLst>
      <p:ext uri="{BB962C8B-B14F-4D97-AF65-F5344CB8AC3E}">
        <p14:creationId xmlns:p14="http://schemas.microsoft.com/office/powerpoint/2010/main" val="16750424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2026-10-22T12:57:16.4300000Z</dcterms:created>
  <dcterms:modified xsi:type="dcterms:W3CDTF">2026-10-22T12:57:16.4300000Z</dcterms:modified>
</coreProperties>
</file>